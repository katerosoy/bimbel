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720263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24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5891626"/>
            <a:ext cx="8262224" cy="12533242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5" y="18908198"/>
            <a:ext cx="7290197" cy="8691601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14" indent="0" algn="ctr">
              <a:buNone/>
              <a:defRPr sz="2126"/>
            </a:lvl2pPr>
            <a:lvl3pPr marL="972027" indent="0" algn="ctr">
              <a:buNone/>
              <a:defRPr sz="1913"/>
            </a:lvl3pPr>
            <a:lvl4pPr marL="1458040" indent="0" algn="ctr">
              <a:buNone/>
              <a:defRPr sz="1701"/>
            </a:lvl4pPr>
            <a:lvl5pPr marL="1944053" indent="0" algn="ctr">
              <a:buNone/>
              <a:defRPr sz="1701"/>
            </a:lvl5pPr>
            <a:lvl6pPr marL="2430066" indent="0" algn="ctr">
              <a:buNone/>
              <a:defRPr sz="1701"/>
            </a:lvl6pPr>
            <a:lvl7pPr marL="2916080" indent="0" algn="ctr">
              <a:buNone/>
              <a:defRPr sz="1701"/>
            </a:lvl7pPr>
            <a:lvl8pPr marL="3402093" indent="0" algn="ctr">
              <a:buNone/>
              <a:defRPr sz="1701"/>
            </a:lvl8pPr>
            <a:lvl9pPr marL="3888107" indent="0" algn="ctr">
              <a:buNone/>
              <a:defRPr sz="17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610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138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8" y="8974945"/>
            <a:ext cx="8383727" cy="14974888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8" y="24091502"/>
            <a:ext cx="8383727" cy="7874940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1pPr>
            <a:lvl2pPr marL="486014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2pPr>
            <a:lvl3pPr marL="972027" indent="0">
              <a:buNone/>
              <a:defRPr sz="1913">
                <a:solidFill>
                  <a:schemeClr val="tx1">
                    <a:tint val="82000"/>
                  </a:schemeClr>
                </a:solidFill>
              </a:defRPr>
            </a:lvl3pPr>
            <a:lvl4pPr marL="1458040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4pPr>
            <a:lvl5pPr marL="1944053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5pPr>
            <a:lvl6pPr marL="2430066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6pPr>
            <a:lvl7pPr marL="2916080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7pPr>
            <a:lvl8pPr marL="3402093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8pPr>
            <a:lvl9pPr marL="388810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248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9583265"/>
            <a:ext cx="4131112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9583265"/>
            <a:ext cx="4131112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907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6" y="1916661"/>
            <a:ext cx="8383727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8824938"/>
            <a:ext cx="4112126" cy="4324966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14" indent="0">
              <a:buNone/>
              <a:defRPr sz="2126" b="1"/>
            </a:lvl2pPr>
            <a:lvl3pPr marL="972027" indent="0">
              <a:buNone/>
              <a:defRPr sz="1913" b="1"/>
            </a:lvl3pPr>
            <a:lvl4pPr marL="1458040" indent="0">
              <a:buNone/>
              <a:defRPr sz="1701" b="1"/>
            </a:lvl4pPr>
            <a:lvl5pPr marL="1944053" indent="0">
              <a:buNone/>
              <a:defRPr sz="1701" b="1"/>
            </a:lvl5pPr>
            <a:lvl6pPr marL="2430066" indent="0">
              <a:buNone/>
              <a:defRPr sz="1701" b="1"/>
            </a:lvl6pPr>
            <a:lvl7pPr marL="2916080" indent="0">
              <a:buNone/>
              <a:defRPr sz="1701" b="1"/>
            </a:lvl7pPr>
            <a:lvl8pPr marL="3402093" indent="0">
              <a:buNone/>
              <a:defRPr sz="1701" b="1"/>
            </a:lvl8pPr>
            <a:lvl9pPr marL="3888107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13149905"/>
            <a:ext cx="4112126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8824938"/>
            <a:ext cx="4132378" cy="4324966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14" indent="0">
              <a:buNone/>
              <a:defRPr sz="2126" b="1"/>
            </a:lvl2pPr>
            <a:lvl3pPr marL="972027" indent="0">
              <a:buNone/>
              <a:defRPr sz="1913" b="1"/>
            </a:lvl3pPr>
            <a:lvl4pPr marL="1458040" indent="0">
              <a:buNone/>
              <a:defRPr sz="1701" b="1"/>
            </a:lvl4pPr>
            <a:lvl5pPr marL="1944053" indent="0">
              <a:buNone/>
              <a:defRPr sz="1701" b="1"/>
            </a:lvl5pPr>
            <a:lvl6pPr marL="2430066" indent="0">
              <a:buNone/>
              <a:defRPr sz="1701" b="1"/>
            </a:lvl6pPr>
            <a:lvl7pPr marL="2916080" indent="0">
              <a:buNone/>
              <a:defRPr sz="1701" b="1"/>
            </a:lvl7pPr>
            <a:lvl8pPr marL="3402093" indent="0">
              <a:buNone/>
              <a:defRPr sz="1701" b="1"/>
            </a:lvl8pPr>
            <a:lvl9pPr marL="3888107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13149905"/>
            <a:ext cx="4132378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158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026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583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2399983"/>
            <a:ext cx="3135038" cy="8399939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80" y="5183305"/>
            <a:ext cx="4920883" cy="25583147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10799922"/>
            <a:ext cx="3135038" cy="20008190"/>
          </a:xfrm>
        </p:spPr>
        <p:txBody>
          <a:bodyPr/>
          <a:lstStyle>
            <a:lvl1pPr marL="0" indent="0">
              <a:buNone/>
              <a:defRPr sz="1701"/>
            </a:lvl1pPr>
            <a:lvl2pPr marL="486014" indent="0">
              <a:buNone/>
              <a:defRPr sz="1488"/>
            </a:lvl2pPr>
            <a:lvl3pPr marL="972027" indent="0">
              <a:buNone/>
              <a:defRPr sz="1276"/>
            </a:lvl3pPr>
            <a:lvl4pPr marL="1458040" indent="0">
              <a:buNone/>
              <a:defRPr sz="1063"/>
            </a:lvl4pPr>
            <a:lvl5pPr marL="1944053" indent="0">
              <a:buNone/>
              <a:defRPr sz="1063"/>
            </a:lvl5pPr>
            <a:lvl6pPr marL="2430066" indent="0">
              <a:buNone/>
              <a:defRPr sz="1063"/>
            </a:lvl6pPr>
            <a:lvl7pPr marL="2916080" indent="0">
              <a:buNone/>
              <a:defRPr sz="1063"/>
            </a:lvl7pPr>
            <a:lvl8pPr marL="3402093" indent="0">
              <a:buNone/>
              <a:defRPr sz="1063"/>
            </a:lvl8pPr>
            <a:lvl9pPr marL="3888107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70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2399983"/>
            <a:ext cx="3135038" cy="8399939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80" y="5183305"/>
            <a:ext cx="4920883" cy="25583147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14" indent="0">
              <a:buNone/>
              <a:defRPr sz="2976"/>
            </a:lvl2pPr>
            <a:lvl3pPr marL="972027" indent="0">
              <a:buNone/>
              <a:defRPr sz="2551"/>
            </a:lvl3pPr>
            <a:lvl4pPr marL="1458040" indent="0">
              <a:buNone/>
              <a:defRPr sz="2126"/>
            </a:lvl4pPr>
            <a:lvl5pPr marL="1944053" indent="0">
              <a:buNone/>
              <a:defRPr sz="2126"/>
            </a:lvl5pPr>
            <a:lvl6pPr marL="2430066" indent="0">
              <a:buNone/>
              <a:defRPr sz="2126"/>
            </a:lvl6pPr>
            <a:lvl7pPr marL="2916080" indent="0">
              <a:buNone/>
              <a:defRPr sz="2126"/>
            </a:lvl7pPr>
            <a:lvl8pPr marL="3402093" indent="0">
              <a:buNone/>
              <a:defRPr sz="2126"/>
            </a:lvl8pPr>
            <a:lvl9pPr marL="3888107" indent="0">
              <a:buNone/>
              <a:defRPr sz="2126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10799922"/>
            <a:ext cx="3135038" cy="20008190"/>
          </a:xfrm>
        </p:spPr>
        <p:txBody>
          <a:bodyPr/>
          <a:lstStyle>
            <a:lvl1pPr marL="0" indent="0">
              <a:buNone/>
              <a:defRPr sz="1701"/>
            </a:lvl1pPr>
            <a:lvl2pPr marL="486014" indent="0">
              <a:buNone/>
              <a:defRPr sz="1488"/>
            </a:lvl2pPr>
            <a:lvl3pPr marL="972027" indent="0">
              <a:buNone/>
              <a:defRPr sz="1276"/>
            </a:lvl3pPr>
            <a:lvl4pPr marL="1458040" indent="0">
              <a:buNone/>
              <a:defRPr sz="1063"/>
            </a:lvl4pPr>
            <a:lvl5pPr marL="1944053" indent="0">
              <a:buNone/>
              <a:defRPr sz="1063"/>
            </a:lvl5pPr>
            <a:lvl6pPr marL="2430066" indent="0">
              <a:buNone/>
              <a:defRPr sz="1063"/>
            </a:lvl6pPr>
            <a:lvl7pPr marL="2916080" indent="0">
              <a:buNone/>
              <a:defRPr sz="1063"/>
            </a:lvl7pPr>
            <a:lvl8pPr marL="3402093" indent="0">
              <a:buNone/>
              <a:defRPr sz="1063"/>
            </a:lvl8pPr>
            <a:lvl9pPr marL="3888107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895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308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1916653"/>
            <a:ext cx="2095932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1916653"/>
            <a:ext cx="6166292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14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70" y="1916661"/>
            <a:ext cx="8383727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70" y="9583265"/>
            <a:ext cx="8383727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70" y="33366433"/>
            <a:ext cx="2187059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E0D68-E6D3-46C4-B9E6-3A452F43A8C5}" type="datetimeFigureOut">
              <a:rPr lang="en-AU" smtClean="0"/>
              <a:t>9/08/2026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9" y="33366433"/>
            <a:ext cx="3280589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8" y="33366433"/>
            <a:ext cx="2187059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0B52F-CB14-43B1-8106-4B9B3C3EF21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42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2027" rtl="0" eaLnBrk="1" latinLnBrk="0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7" indent="-243007" algn="l" defTabSz="972027" rtl="0" eaLnBrk="1" latinLnBrk="0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20" indent="-243007" algn="l" defTabSz="97202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34" indent="-243007" algn="l" defTabSz="97202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47" indent="-243007" algn="l" defTabSz="97202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59" indent="-243007" algn="l" defTabSz="97202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73" indent="-243007" algn="l" defTabSz="97202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86" indent="-243007" algn="l" defTabSz="97202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100" indent="-243007" algn="l" defTabSz="97202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113" indent="-243007" algn="l" defTabSz="97202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14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27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40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53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66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80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93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107" algn="l" defTabSz="97202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ECD7FE3-9B3F-9D74-B6D4-BB8F0BEE4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21" y="12728099"/>
            <a:ext cx="9511719" cy="73006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0715D0-10EA-800C-4F8B-DA60603A1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8" y="17901273"/>
            <a:ext cx="9682092" cy="646015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983805F-E8E3-16E2-E072-47329F72D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23" y="29034929"/>
            <a:ext cx="9720263" cy="679499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B7897EFB-2E53-E597-B41B-5199FE362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22846"/>
            <a:ext cx="9707541" cy="9119205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3CDE0CF8-48F6-513E-5646-6D17F7A464F6}"/>
              </a:ext>
            </a:extLst>
          </p:cNvPr>
          <p:cNvSpPr/>
          <p:nvPr/>
        </p:nvSpPr>
        <p:spPr>
          <a:xfrm>
            <a:off x="5037990" y="574733"/>
            <a:ext cx="869139" cy="2393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PROMO SPECIAL!!</a:t>
            </a:r>
            <a:endParaRPr lang="en-AU" sz="7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BC3EFB-371D-2EAB-9558-634173DE1EC6}"/>
              </a:ext>
            </a:extLst>
          </p:cNvPr>
          <p:cNvSpPr/>
          <p:nvPr/>
        </p:nvSpPr>
        <p:spPr>
          <a:xfrm>
            <a:off x="4347441" y="568354"/>
            <a:ext cx="641619" cy="2393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Beranda</a:t>
            </a:r>
            <a:endParaRPr lang="en-AU" sz="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5370B5E-B6B4-172A-CAFA-2E9D1153BEBA}"/>
              </a:ext>
            </a:extLst>
          </p:cNvPr>
          <p:cNvSpPr/>
          <p:nvPr/>
        </p:nvSpPr>
        <p:spPr>
          <a:xfrm>
            <a:off x="7798407" y="568353"/>
            <a:ext cx="651131" cy="2296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Karir</a:t>
            </a:r>
            <a:endParaRPr lang="id-ID" sz="80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D9871FC-571F-E358-6519-0EED03BE1EED}"/>
              </a:ext>
            </a:extLst>
          </p:cNvPr>
          <p:cNvSpPr/>
          <p:nvPr/>
        </p:nvSpPr>
        <p:spPr>
          <a:xfrm>
            <a:off x="8077041" y="95883"/>
            <a:ext cx="1167529" cy="2296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LearnSpace+</a:t>
            </a:r>
            <a:endParaRPr lang="id-ID" sz="120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29764A9-0744-CDA0-FCC8-09B48462A839}"/>
              </a:ext>
            </a:extLst>
          </p:cNvPr>
          <p:cNvSpPr/>
          <p:nvPr/>
        </p:nvSpPr>
        <p:spPr>
          <a:xfrm>
            <a:off x="6909200" y="568353"/>
            <a:ext cx="838218" cy="2393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Produk Digital</a:t>
            </a:r>
            <a:r>
              <a:rPr lang="en-US" sz="80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id-ID" sz="80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1C142FD-0B72-59CD-D21C-BA215304CF9E}"/>
              </a:ext>
            </a:extLst>
          </p:cNvPr>
          <p:cNvSpPr/>
          <p:nvPr/>
        </p:nvSpPr>
        <p:spPr>
          <a:xfrm>
            <a:off x="5956059" y="569362"/>
            <a:ext cx="909120" cy="2393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Program Belajar</a:t>
            </a:r>
            <a:endParaRPr lang="en-AU" sz="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B59011A8-E536-F3B5-FE03-F18921F57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723" y="9096359"/>
            <a:ext cx="9732986" cy="336156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B19ABCB9-6BB6-3F04-4646-606D9563E9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3850" y="12480449"/>
            <a:ext cx="1828800" cy="24765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38C1FD30-F485-1CF0-AE23-80642CF016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51" y="15226316"/>
            <a:ext cx="9096375" cy="2657475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9EBE052D-6C31-84D1-59E2-281E2591405D}"/>
              </a:ext>
            </a:extLst>
          </p:cNvPr>
          <p:cNvSpPr/>
          <p:nvPr/>
        </p:nvSpPr>
        <p:spPr>
          <a:xfrm>
            <a:off x="8498284" y="568441"/>
            <a:ext cx="838218" cy="2393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Tentang Kami</a:t>
            </a:r>
            <a:endParaRPr lang="id-ID" sz="80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1FFCA9F1-535C-302E-24C1-8256F3DB59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2608" y="-3517"/>
            <a:ext cx="1771650" cy="361950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6D8852E3-CA77-FED4-A52C-D2E551FC40AC}"/>
              </a:ext>
            </a:extLst>
          </p:cNvPr>
          <p:cNvSpPr/>
          <p:nvPr/>
        </p:nvSpPr>
        <p:spPr>
          <a:xfrm>
            <a:off x="4678775" y="9467850"/>
            <a:ext cx="626650" cy="167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Tahunan</a:t>
            </a:r>
            <a:endParaRPr lang="en-AU" sz="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E31027A1-4ED2-CA4C-1765-48ED1ABFC3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9087" y="25996217"/>
            <a:ext cx="9720263" cy="2868893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702B1398-CEDB-B699-A44B-6574472EFC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156" y="24603400"/>
            <a:ext cx="9688383" cy="1243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007987-E8FB-56ED-B1A6-EB79B8459628}"/>
              </a:ext>
            </a:extLst>
          </p:cNvPr>
          <p:cNvSpPr/>
          <p:nvPr/>
        </p:nvSpPr>
        <p:spPr>
          <a:xfrm>
            <a:off x="744584" y="979714"/>
            <a:ext cx="2743200" cy="18157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145F7F-7CA3-C4DE-FAED-1404F7D127BA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-1384663" y="1182189"/>
            <a:ext cx="2129247" cy="571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41A075F-BFAC-99D2-7805-36C9AD83BF15}"/>
              </a:ext>
            </a:extLst>
          </p:cNvPr>
          <p:cNvSpPr/>
          <p:nvPr/>
        </p:nvSpPr>
        <p:spPr>
          <a:xfrm>
            <a:off x="-4611189" y="705394"/>
            <a:ext cx="3226526" cy="953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100" b="1" noProof="0" dirty="0">
                <a:solidFill>
                  <a:schemeClr val="tx1"/>
                </a:solidFill>
              </a:rPr>
              <a:t>THE BEST PLACE TO BOOST YOUR BRAIN</a:t>
            </a:r>
            <a:endParaRPr lang="id-ID" sz="1100" noProof="0" dirty="0">
              <a:solidFill>
                <a:schemeClr val="tx1"/>
              </a:solidFill>
            </a:endParaRPr>
          </a:p>
          <a:p>
            <a:pPr algn="ctr"/>
            <a:r>
              <a:rPr lang="id-ID" sz="1100" noProof="0" dirty="0">
                <a:solidFill>
                  <a:schemeClr val="tx1"/>
                </a:solidFill>
              </a:rPr>
              <a:t>Tempat belajar untuk mengasah kemampuan, membangun kepercayaan diri, dan mengembangkan potensi terbaik setiap anak.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B4C25C-EAB7-BF52-46DD-F59CAA250D53}"/>
              </a:ext>
            </a:extLst>
          </p:cNvPr>
          <p:cNvSpPr/>
          <p:nvPr/>
        </p:nvSpPr>
        <p:spPr>
          <a:xfrm>
            <a:off x="10175966" y="2077463"/>
            <a:ext cx="4232366" cy="42318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100" b="1" dirty="0">
                <a:solidFill>
                  <a:schemeClr val="tx1"/>
                </a:solidFill>
              </a:rPr>
              <a:t>[SLIDE 1]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PROMO PENDAFTARAN</a:t>
            </a:r>
            <a:br>
              <a:rPr lang="en-AU" sz="1100" dirty="0">
                <a:solidFill>
                  <a:schemeClr val="tx1"/>
                </a:solidFill>
              </a:rPr>
            </a:br>
            <a:r>
              <a:rPr lang="en-AU" sz="1100" b="1" dirty="0">
                <a:solidFill>
                  <a:schemeClr val="tx1"/>
                </a:solidFill>
              </a:rPr>
              <a:t>DISKON 10%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dirty="0">
                <a:solidFill>
                  <a:schemeClr val="tx1"/>
                </a:solidFill>
              </a:rPr>
              <a:t>Dapatkan </a:t>
            </a:r>
            <a:r>
              <a:rPr lang="en-AU" sz="1100" b="1" dirty="0">
                <a:solidFill>
                  <a:schemeClr val="tx1"/>
                </a:solidFill>
              </a:rPr>
              <a:t>diskon 10%</a:t>
            </a:r>
            <a:r>
              <a:rPr lang="en-AU" sz="1100" dirty="0">
                <a:solidFill>
                  <a:schemeClr val="tx1"/>
                </a:solidFill>
              </a:rPr>
              <a:t> untuk pendaftar baru yang memperoleh </a:t>
            </a:r>
            <a:r>
              <a:rPr lang="en-AU" sz="1100" b="1" dirty="0">
                <a:solidFill>
                  <a:schemeClr val="tx1"/>
                </a:solidFill>
              </a:rPr>
              <a:t>nilai di atas 80</a:t>
            </a:r>
            <a:r>
              <a:rPr lang="en-AU" sz="1100" dirty="0">
                <a:solidFill>
                  <a:schemeClr val="tx1"/>
                </a:solidFill>
              </a:rPr>
              <a:t> pada Tes Kemampuan Dasar.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🎯 Belajar lebih hemat, mulai lebih semangat!</a:t>
            </a:r>
            <a:endParaRPr lang="en-AU" sz="1100" dirty="0">
              <a:solidFill>
                <a:schemeClr val="tx1"/>
              </a:solidFill>
            </a:endParaRPr>
          </a:p>
          <a:p>
            <a:br>
              <a:rPr lang="en-AU" sz="1100" dirty="0">
                <a:solidFill>
                  <a:schemeClr val="tx1"/>
                </a:solidFill>
              </a:rPr>
            </a:b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b="1" dirty="0">
                <a:solidFill>
                  <a:schemeClr val="tx1"/>
                </a:solidFill>
              </a:rPr>
              <a:t>[SLIDE 2]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PROMO PENDAFTARAN</a:t>
            </a:r>
            <a:br>
              <a:rPr lang="en-AU" sz="1100" dirty="0">
                <a:solidFill>
                  <a:schemeClr val="tx1"/>
                </a:solidFill>
              </a:rPr>
            </a:br>
            <a:r>
              <a:rPr lang="en-AU" sz="1100" b="1" dirty="0">
                <a:solidFill>
                  <a:schemeClr val="tx1"/>
                </a:solidFill>
              </a:rPr>
              <a:t>DISKON HINGGA 30%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dirty="0">
                <a:solidFill>
                  <a:schemeClr val="tx1"/>
                </a:solidFill>
              </a:rPr>
              <a:t>Khusus untuk </a:t>
            </a:r>
            <a:r>
              <a:rPr lang="en-AU" sz="1100" b="1" dirty="0">
                <a:solidFill>
                  <a:schemeClr val="tx1"/>
                </a:solidFill>
              </a:rPr>
              <a:t>Juara Kelas 1, 2, dan 3</a:t>
            </a:r>
            <a:r>
              <a:rPr lang="en-AU" sz="1100" dirty="0">
                <a:solidFill>
                  <a:schemeClr val="tx1"/>
                </a:solidFill>
              </a:rPr>
              <a:t>.</a:t>
            </a:r>
          </a:p>
          <a:p>
            <a:r>
              <a:rPr lang="en-AU" sz="1100" dirty="0">
                <a:solidFill>
                  <a:schemeClr val="tx1"/>
                </a:solidFill>
              </a:rPr>
              <a:t>Tunjukkan prestasimu dan dapatkan </a:t>
            </a:r>
            <a:r>
              <a:rPr lang="en-AU" sz="1100" b="1" dirty="0">
                <a:solidFill>
                  <a:schemeClr val="tx1"/>
                </a:solidFill>
              </a:rPr>
              <a:t>diskon biaya belajar hingga 30%</a:t>
            </a:r>
            <a:r>
              <a:rPr lang="en-AU" sz="1100" dirty="0">
                <a:solidFill>
                  <a:schemeClr val="tx1"/>
                </a:solidFill>
              </a:rPr>
              <a:t>!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🏆 Prestasi kamu, apresiasi kami!</a:t>
            </a:r>
            <a:endParaRPr lang="en-AU" sz="1100" dirty="0">
              <a:solidFill>
                <a:schemeClr val="tx1"/>
              </a:solidFill>
            </a:endParaRPr>
          </a:p>
          <a:p>
            <a:br>
              <a:rPr lang="en-AU" sz="1100" dirty="0">
                <a:solidFill>
                  <a:schemeClr val="tx1"/>
                </a:solidFill>
              </a:rPr>
            </a:b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b="1" dirty="0">
                <a:solidFill>
                  <a:schemeClr val="tx1"/>
                </a:solidFill>
              </a:rPr>
              <a:t>[SLIDE 3]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PROMO UNTUK SISWA AKTIF</a:t>
            </a:r>
            <a:br>
              <a:rPr lang="en-AU" sz="1100" dirty="0">
                <a:solidFill>
                  <a:schemeClr val="tx1"/>
                </a:solidFill>
              </a:rPr>
            </a:br>
            <a:r>
              <a:rPr lang="en-AU" sz="1100" b="1" dirty="0">
                <a:solidFill>
                  <a:schemeClr val="tx1"/>
                </a:solidFill>
              </a:rPr>
              <a:t>CASHBACK SPP 20%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dirty="0">
                <a:solidFill>
                  <a:schemeClr val="tx1"/>
                </a:solidFill>
              </a:rPr>
              <a:t>Ajak temanmu bergabung di </a:t>
            </a:r>
            <a:r>
              <a:rPr lang="en-AU" sz="1100" b="1" dirty="0">
                <a:solidFill>
                  <a:schemeClr val="tx1"/>
                </a:solidFill>
              </a:rPr>
              <a:t>StudyHack</a:t>
            </a:r>
            <a:r>
              <a:rPr lang="en-AU" sz="1100" dirty="0">
                <a:solidFill>
                  <a:schemeClr val="tx1"/>
                </a:solidFill>
              </a:rPr>
              <a:t> dan dapatkan </a:t>
            </a:r>
            <a:r>
              <a:rPr lang="en-AU" sz="1100" b="1" dirty="0">
                <a:solidFill>
                  <a:schemeClr val="tx1"/>
                </a:solidFill>
              </a:rPr>
              <a:t>cashback SPP 20%</a:t>
            </a:r>
            <a:r>
              <a:rPr lang="en-AU" sz="1100" dirty="0">
                <a:solidFill>
                  <a:schemeClr val="tx1"/>
                </a:solidFill>
              </a:rPr>
              <a:t>.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👫 Belajar bersama, dapat untung bersama!</a:t>
            </a:r>
            <a:endParaRPr lang="en-AU" sz="1100" dirty="0">
              <a:solidFill>
                <a:schemeClr val="tx1"/>
              </a:solidFill>
            </a:endParaRPr>
          </a:p>
          <a:p>
            <a:pPr algn="ctr"/>
            <a:endParaRPr lang="en-US" sz="1100" noProof="0" dirty="0">
              <a:solidFill>
                <a:schemeClr val="tx1"/>
              </a:solidFill>
            </a:endParaRPr>
          </a:p>
          <a:p>
            <a:pPr algn="ctr"/>
            <a:endParaRPr lang="id-ID" sz="1100" noProof="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B34493-67F3-01F4-DD6C-02EFE9C1296E}"/>
              </a:ext>
            </a:extLst>
          </p:cNvPr>
          <p:cNvCxnSpPr>
            <a:cxnSpLocks/>
          </p:cNvCxnSpPr>
          <p:nvPr/>
        </p:nvCxnSpPr>
        <p:spPr>
          <a:xfrm flipV="1">
            <a:off x="9080353" y="4820194"/>
            <a:ext cx="1095613" cy="8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1FBF31A-98BF-4397-5F01-752132A0D02C}"/>
              </a:ext>
            </a:extLst>
          </p:cNvPr>
          <p:cNvSpPr/>
          <p:nvPr/>
        </p:nvSpPr>
        <p:spPr>
          <a:xfrm>
            <a:off x="-4700793" y="2784697"/>
            <a:ext cx="4232366" cy="88804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noProof="0" dirty="0">
                <a:solidFill>
                  <a:schemeClr val="tx1"/>
                </a:solidFill>
              </a:rPr>
              <a:t>                                     </a:t>
            </a:r>
            <a:r>
              <a:rPr lang="id-ID" sz="1100" b="1" noProof="0" dirty="0">
                <a:solidFill>
                  <a:schemeClr val="tx1"/>
                </a:solidFill>
              </a:rPr>
              <a:t>PROGRAM BELAJAR 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Play Club [Pre-School</a:t>
            </a:r>
            <a:r>
              <a:rPr lang="en-US" sz="1100" b="1" noProof="0" dirty="0">
                <a:solidFill>
                  <a:schemeClr val="tx1"/>
                </a:solidFill>
              </a:rPr>
              <a:t>, Semua Program</a:t>
            </a:r>
            <a:r>
              <a:rPr lang="id-ID" sz="1100" b="1" noProof="0" dirty="0">
                <a:solidFill>
                  <a:schemeClr val="tx1"/>
                </a:solidFill>
              </a:rPr>
              <a:t>]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Social, Motorik &amp; Sensorik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noProof="0" dirty="0">
                <a:solidFill>
                  <a:schemeClr val="tx1"/>
                </a:solidFill>
              </a:rPr>
              <a:t>Membangun kemampuan sosial, motorik, dan sensorik anak melalui aktivitas belajar yang menyenangkan.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12x per bulan • 60 menit/sesi • Rp300.000/bulan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  <a:p>
            <a:r>
              <a:rPr lang="id-ID" sz="1100" b="1" noProof="0" dirty="0">
                <a:solidFill>
                  <a:schemeClr val="tx1"/>
                </a:solidFill>
              </a:rPr>
              <a:t>Calistung [Pre-School &amp; SD</a:t>
            </a:r>
            <a:r>
              <a:rPr lang="en-US" sz="1100" b="1" dirty="0">
                <a:solidFill>
                  <a:schemeClr val="tx1"/>
                </a:solidFill>
              </a:rPr>
              <a:t> , Semua Program</a:t>
            </a:r>
            <a:r>
              <a:rPr lang="id-ID" sz="1100" b="1" noProof="0" dirty="0">
                <a:solidFill>
                  <a:schemeClr val="tx1"/>
                </a:solidFill>
              </a:rPr>
              <a:t>]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Membaca, Menulis &amp; Berhitung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noProof="0" dirty="0">
                <a:solidFill>
                  <a:schemeClr val="tx1"/>
                </a:solidFill>
              </a:rPr>
              <a:t>Membangun kemampuan dasar membaca, menulis, dan berhitung sebagai bekal belajar anak.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12x per bulan • 60 menit/sesi • Rp300.000/bulan</a:t>
            </a:r>
            <a:endParaRPr lang="id-ID" sz="1100" noProof="0" dirty="0">
              <a:solidFill>
                <a:schemeClr val="tx1"/>
              </a:solidFill>
            </a:endParaRPr>
          </a:p>
          <a:p>
            <a:endParaRPr lang="id-ID" sz="1100" noProof="0" dirty="0">
              <a:solidFill>
                <a:schemeClr val="tx1"/>
              </a:solidFill>
            </a:endParaRPr>
          </a:p>
          <a:p>
            <a:r>
              <a:rPr lang="id-ID" sz="1100" b="1" noProof="0" dirty="0">
                <a:solidFill>
                  <a:schemeClr val="tx1"/>
                </a:solidFill>
              </a:rPr>
              <a:t>English Class [SD, SMP &amp; SMA</a:t>
            </a:r>
            <a:r>
              <a:rPr lang="en-US" sz="1100" b="1" dirty="0">
                <a:solidFill>
                  <a:schemeClr val="tx1"/>
                </a:solidFill>
              </a:rPr>
              <a:t> , Semua Program</a:t>
            </a:r>
            <a:r>
              <a:rPr lang="id-ID" sz="1100" b="1" noProof="0" dirty="0">
                <a:solidFill>
                  <a:schemeClr val="tx1"/>
                </a:solidFill>
              </a:rPr>
              <a:t>]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English Skills &amp; Communication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noProof="0" dirty="0">
                <a:solidFill>
                  <a:schemeClr val="tx1"/>
                </a:solidFill>
              </a:rPr>
              <a:t>Mengembangkan kemampuan Bahasa Inggris melalui vocabulary, grammar, reading, writing, listening, dan speaking.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8x per bulan • 90 menit/sesi • Rp250.000/bulan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  <a:p>
            <a:r>
              <a:rPr lang="id-ID" sz="1100" b="1" noProof="0" dirty="0">
                <a:solidFill>
                  <a:schemeClr val="tx1"/>
                </a:solidFill>
              </a:rPr>
              <a:t>Math Class [SD, SMP &amp; SMA</a:t>
            </a:r>
            <a:r>
              <a:rPr lang="en-US" sz="1100" b="1" dirty="0">
                <a:solidFill>
                  <a:schemeClr val="tx1"/>
                </a:solidFill>
              </a:rPr>
              <a:t> , Semua Program</a:t>
            </a:r>
            <a:r>
              <a:rPr lang="id-ID" sz="1100" b="1" noProof="0" dirty="0">
                <a:solidFill>
                  <a:schemeClr val="tx1"/>
                </a:solidFill>
              </a:rPr>
              <a:t>]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Mathematics Skills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noProof="0" dirty="0">
                <a:solidFill>
                  <a:schemeClr val="tx1"/>
                </a:solidFill>
              </a:rPr>
              <a:t>Memperkuat pemahaman konsep Matematika, kemampuan berhitung, pemecahan masalah, dan penalaran logis.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4x per bulan • 90 menit/sesi • Rp150.000/bulan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  <a:p>
            <a:r>
              <a:rPr lang="id-ID" sz="1100" b="1" noProof="0" dirty="0">
                <a:solidFill>
                  <a:schemeClr val="tx1"/>
                </a:solidFill>
              </a:rPr>
              <a:t>Science Class [SD, SMP &amp; SMA</a:t>
            </a:r>
            <a:r>
              <a:rPr lang="en-US" sz="1100" b="1" dirty="0">
                <a:solidFill>
                  <a:schemeClr val="tx1"/>
                </a:solidFill>
              </a:rPr>
              <a:t> , Semua Program</a:t>
            </a:r>
            <a:r>
              <a:rPr lang="id-ID" sz="1100" b="1" noProof="0" dirty="0">
                <a:solidFill>
                  <a:schemeClr val="tx1"/>
                </a:solidFill>
              </a:rPr>
              <a:t>]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Science &amp; Discovery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noProof="0" dirty="0">
                <a:solidFill>
                  <a:schemeClr val="tx1"/>
                </a:solidFill>
              </a:rPr>
              <a:t>Memahami konsep IPA melalui pembelajaran yang kontekstual, eksploratif, dan mudah dipahami.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4x per bulan • 90 menit/sesi • Rp150.000/bulan</a:t>
            </a:r>
            <a:endParaRPr lang="id-ID" sz="1100" noProof="0" dirty="0">
              <a:solidFill>
                <a:schemeClr val="tx1"/>
              </a:solidFill>
            </a:endParaRPr>
          </a:p>
          <a:p>
            <a:endParaRPr lang="id-ID" sz="1100" noProof="0" dirty="0">
              <a:solidFill>
                <a:schemeClr val="tx1"/>
              </a:solidFill>
            </a:endParaRPr>
          </a:p>
          <a:p>
            <a:r>
              <a:rPr lang="id-ID" sz="1100" b="1" noProof="0" dirty="0">
                <a:solidFill>
                  <a:schemeClr val="tx1"/>
                </a:solidFill>
              </a:rPr>
              <a:t>Teaching Class for Moms [ Lainnya</a:t>
            </a:r>
            <a:r>
              <a:rPr lang="en-US" sz="1100" b="1" dirty="0">
                <a:solidFill>
                  <a:schemeClr val="tx1"/>
                </a:solidFill>
              </a:rPr>
              <a:t> &amp; Semua Program</a:t>
            </a:r>
            <a:r>
              <a:rPr lang="id-ID" sz="1100" b="1" noProof="0" dirty="0">
                <a:solidFill>
                  <a:schemeClr val="tx1"/>
                </a:solidFill>
              </a:rPr>
              <a:t>]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Learn How to Teach Your Child at Home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noProof="0" dirty="0">
                <a:solidFill>
                  <a:schemeClr val="tx1"/>
                </a:solidFill>
              </a:rPr>
              <a:t>Membantu orang tua memahami cara mendampingi dan mengajarkan anak di rumah dengan metode yang tepat dan menyenangkan.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4x per bulan • 90 menit/sesi • Rp150.000/bulan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  <a:p>
            <a:r>
              <a:rPr lang="id-ID" sz="1100" b="1" noProof="0" dirty="0">
                <a:solidFill>
                  <a:schemeClr val="tx1"/>
                </a:solidFill>
              </a:rPr>
              <a:t>Private Class [Semua Program]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Personalized Learning for Every Student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noProof="0" dirty="0">
                <a:solidFill>
                  <a:schemeClr val="tx1"/>
                </a:solidFill>
              </a:rPr>
              <a:t>Kelas privat yang dapat disesuaikan dengan kebutuhan, kemampuan, target belajar, dan kurikulum siswa.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Kurikulum Nasional:</a:t>
            </a:r>
            <a:r>
              <a:rPr lang="id-ID" sz="1100" noProof="0" dirty="0">
                <a:solidFill>
                  <a:schemeClr val="tx1"/>
                </a:solidFill>
              </a:rPr>
              <a:t> Rp100.000/sesi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b="1" noProof="0" dirty="0">
                <a:solidFill>
                  <a:schemeClr val="tx1"/>
                </a:solidFill>
              </a:rPr>
              <a:t>Nasional Plus, Cambridge, Singapore &amp; IB:</a:t>
            </a:r>
            <a:r>
              <a:rPr lang="id-ID" sz="1100" noProof="0" dirty="0">
                <a:solidFill>
                  <a:schemeClr val="tx1"/>
                </a:solidFill>
              </a:rPr>
              <a:t> Rp150.000/sesi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b="1" noProof="0" dirty="0">
                <a:solidFill>
                  <a:schemeClr val="tx1"/>
                </a:solidFill>
              </a:rPr>
              <a:t>90 menit/sesi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  <a:p>
            <a:r>
              <a:rPr lang="id-ID" sz="1100" b="1" noProof="0" dirty="0">
                <a:solidFill>
                  <a:schemeClr val="tx1"/>
                </a:solidFill>
              </a:rPr>
              <a:t>Tahfidz Class [Lainnya]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Hafalan Surah &amp; Bacaan Shalat</a:t>
            </a:r>
            <a:br>
              <a:rPr lang="id-ID" sz="1100" noProof="0" dirty="0">
                <a:solidFill>
                  <a:schemeClr val="tx1"/>
                </a:solidFill>
              </a:rPr>
            </a:br>
            <a:r>
              <a:rPr lang="id-ID" sz="1100" noProof="0" dirty="0">
                <a:solidFill>
                  <a:schemeClr val="tx1"/>
                </a:solidFill>
              </a:rPr>
              <a:t>Membantu siswa menghafal surah dan meningkatkan kemampuan membaca serta menghafalkan bacaan shalat secara bertahap.</a:t>
            </a:r>
          </a:p>
          <a:p>
            <a:r>
              <a:rPr lang="id-ID" sz="1100" b="1" noProof="0" dirty="0">
                <a:solidFill>
                  <a:schemeClr val="tx1"/>
                </a:solidFill>
              </a:rPr>
              <a:t>8x per bulan • 90 menit/sesi • Rp1</a:t>
            </a:r>
            <a:r>
              <a:rPr lang="en-US" sz="1100" b="1" noProof="0" dirty="0">
                <a:solidFill>
                  <a:schemeClr val="tx1"/>
                </a:solidFill>
              </a:rPr>
              <a:t>5</a:t>
            </a:r>
            <a:r>
              <a:rPr lang="id-ID" sz="1100" b="1" noProof="0" dirty="0">
                <a:solidFill>
                  <a:schemeClr val="tx1"/>
                </a:solidFill>
              </a:rPr>
              <a:t>0.000/bulan</a:t>
            </a:r>
            <a:endParaRPr lang="id-ID" sz="1100" noProof="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86CC42-317E-3870-402E-D36433F5F9EB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-468427" y="7224914"/>
            <a:ext cx="1631021" cy="95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8E2F76E-C8FC-A52C-4B94-FA373A14075A}"/>
              </a:ext>
            </a:extLst>
          </p:cNvPr>
          <p:cNvSpPr/>
          <p:nvPr/>
        </p:nvSpPr>
        <p:spPr>
          <a:xfrm>
            <a:off x="10175966" y="9096359"/>
            <a:ext cx="4620414" cy="54506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noProof="0" dirty="0">
                <a:solidFill>
                  <a:schemeClr val="tx1"/>
                </a:solidFill>
              </a:rPr>
              <a:t>                                                  PILIHAN PAKET</a:t>
            </a:r>
          </a:p>
          <a:p>
            <a:endParaRPr lang="en-US" sz="1100" b="1" dirty="0">
              <a:solidFill>
                <a:schemeClr val="tx1"/>
              </a:solidFill>
            </a:endParaRPr>
          </a:p>
          <a:p>
            <a:r>
              <a:rPr lang="en-AU" sz="1100" b="1" dirty="0">
                <a:solidFill>
                  <a:schemeClr val="tx1"/>
                </a:solidFill>
              </a:rPr>
              <a:t>COMBO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English + Math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dirty="0">
                <a:solidFill>
                  <a:schemeClr val="tx1"/>
                </a:solidFill>
              </a:rPr>
              <a:t>Dua mata pelajaran untuk memperkuat kemampuan Bahasa Inggris dan Matematika secara seimbang.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12x per bulan • 90 menit/sesi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strike="sngStrike" dirty="0">
                <a:solidFill>
                  <a:schemeClr val="tx1"/>
                </a:solidFill>
              </a:rPr>
              <a:t>Rp400.000/bulan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b="1" dirty="0">
                <a:solidFill>
                  <a:schemeClr val="tx1"/>
                </a:solidFill>
              </a:rPr>
              <a:t>Rp350.000/bulan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Paket Tahunan: Rp3.850.000</a:t>
            </a:r>
            <a:br>
              <a:rPr lang="en-AU" sz="1100" dirty="0">
                <a:solidFill>
                  <a:schemeClr val="tx1"/>
                </a:solidFill>
              </a:rPr>
            </a:br>
            <a:r>
              <a:rPr lang="en-AU" sz="1100" i="1" dirty="0">
                <a:solidFill>
                  <a:schemeClr val="tx1"/>
                </a:solidFill>
              </a:rPr>
              <a:t>Hemat Rp350.000 dibandingkan pembayaran bulanan selama 12 bulan.</a:t>
            </a:r>
            <a:endParaRPr lang="en-AU" sz="1100" dirty="0">
              <a:solidFill>
                <a:schemeClr val="tx1"/>
              </a:solidFill>
            </a:endParaRPr>
          </a:p>
          <a:p>
            <a:br>
              <a:rPr lang="en-AU" sz="1100" dirty="0">
                <a:solidFill>
                  <a:schemeClr val="tx1"/>
                </a:solidFill>
              </a:rPr>
            </a:br>
            <a:r>
              <a:rPr lang="en-AU" sz="1100" b="1" dirty="0">
                <a:solidFill>
                  <a:schemeClr val="tx1"/>
                </a:solidFill>
              </a:rPr>
              <a:t>SUPER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English + Math + Science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dirty="0">
                <a:solidFill>
                  <a:schemeClr val="tx1"/>
                </a:solidFill>
              </a:rPr>
              <a:t>Program belajar lebih lengkap untuk mengembangkan kemampuan Bahasa Inggris, Matematika, dan IPA.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16x per bulan • 90 menit/sesi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strike="sngStrike" dirty="0">
                <a:solidFill>
                  <a:schemeClr val="tx1"/>
                </a:solidFill>
              </a:rPr>
              <a:t>Rp550.000/bulan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b="1" dirty="0">
                <a:solidFill>
                  <a:schemeClr val="tx1"/>
                </a:solidFill>
              </a:rPr>
              <a:t>Rp500.000/bulan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Paket Tahunan: Rp5.500.000</a:t>
            </a:r>
            <a:br>
              <a:rPr lang="en-AU" sz="1100" dirty="0">
                <a:solidFill>
                  <a:schemeClr val="tx1"/>
                </a:solidFill>
              </a:rPr>
            </a:br>
            <a:r>
              <a:rPr lang="en-AU" sz="1100" i="1" dirty="0">
                <a:solidFill>
                  <a:schemeClr val="tx1"/>
                </a:solidFill>
              </a:rPr>
              <a:t>Hemat Rp500.000 dibandingkan pembayaran bulanan selama 12 bulan.</a:t>
            </a:r>
            <a:endParaRPr lang="en-AU" sz="1100" dirty="0">
              <a:solidFill>
                <a:schemeClr val="tx1"/>
              </a:solidFill>
            </a:endParaRPr>
          </a:p>
          <a:p>
            <a:br>
              <a:rPr lang="en-AU" sz="1100" dirty="0">
                <a:solidFill>
                  <a:schemeClr val="tx1"/>
                </a:solidFill>
              </a:rPr>
            </a:br>
            <a:r>
              <a:rPr lang="en-AU" sz="1100" b="1" dirty="0">
                <a:solidFill>
                  <a:schemeClr val="tx1"/>
                </a:solidFill>
              </a:rPr>
              <a:t>INTENSIF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English + Math + Science + Mengaji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dirty="0">
                <a:solidFill>
                  <a:schemeClr val="tx1"/>
                </a:solidFill>
              </a:rPr>
              <a:t>Program belajar paling lengkap untuk mendukung perkembangan akademik sekaligus kemampuan mengaji secara rutin.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24x per bulan • 90 menit/sesi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strike="sngStrike" dirty="0">
                <a:solidFill>
                  <a:schemeClr val="tx1"/>
                </a:solidFill>
              </a:rPr>
              <a:t>Rp670.000/bulan</a:t>
            </a:r>
            <a:endParaRPr lang="en-AU" sz="1100" dirty="0">
              <a:solidFill>
                <a:schemeClr val="tx1"/>
              </a:solidFill>
            </a:endParaRPr>
          </a:p>
          <a:p>
            <a:r>
              <a:rPr lang="en-AU" sz="1100" b="1" dirty="0">
                <a:solidFill>
                  <a:schemeClr val="tx1"/>
                </a:solidFill>
              </a:rPr>
              <a:t>Rp600.000/bulan</a:t>
            </a:r>
          </a:p>
          <a:p>
            <a:r>
              <a:rPr lang="en-AU" sz="1100" b="1" dirty="0">
                <a:solidFill>
                  <a:schemeClr val="tx1"/>
                </a:solidFill>
              </a:rPr>
              <a:t>Paket Tahunan: Rp6.600.000</a:t>
            </a:r>
            <a:br>
              <a:rPr lang="en-AU" sz="1100" dirty="0">
                <a:solidFill>
                  <a:schemeClr val="tx1"/>
                </a:solidFill>
              </a:rPr>
            </a:br>
            <a:r>
              <a:rPr lang="en-AU" sz="1100" i="1" dirty="0">
                <a:solidFill>
                  <a:schemeClr val="tx1"/>
                </a:solidFill>
              </a:rPr>
              <a:t>Hemat Rp600.000 dibandingkan pembayaran bulanan selama 12 bulan.</a:t>
            </a:r>
            <a:endParaRPr lang="en-AU" sz="1100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E884DF0-F143-4E03-227D-C6FBC902679F}"/>
              </a:ext>
            </a:extLst>
          </p:cNvPr>
          <p:cNvCxnSpPr>
            <a:cxnSpLocks/>
          </p:cNvCxnSpPr>
          <p:nvPr/>
        </p:nvCxnSpPr>
        <p:spPr>
          <a:xfrm>
            <a:off x="8294914" y="10918129"/>
            <a:ext cx="1881052" cy="332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041796C-CE93-AB21-A3F2-DE78B494E8C5}"/>
              </a:ext>
            </a:extLst>
          </p:cNvPr>
          <p:cNvSpPr/>
          <p:nvPr/>
        </p:nvSpPr>
        <p:spPr>
          <a:xfrm>
            <a:off x="-4700793" y="11975984"/>
            <a:ext cx="4232366" cy="12305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noProof="0" dirty="0">
                <a:solidFill>
                  <a:schemeClr val="tx1"/>
                </a:solidFill>
              </a:rPr>
              <a:t>                                     Mesin Pencarian</a:t>
            </a:r>
            <a:endParaRPr lang="id-ID" sz="1100" b="1" noProof="0" dirty="0">
              <a:solidFill>
                <a:schemeClr val="tx1"/>
              </a:solidFill>
            </a:endParaRPr>
          </a:p>
          <a:p>
            <a:r>
              <a:rPr lang="en-US" sz="1100" b="1" noProof="0" dirty="0">
                <a:solidFill>
                  <a:schemeClr val="tx1"/>
                </a:solidFill>
              </a:rPr>
              <a:t>*Pilih Jenjang (SD, SMP, SMA)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*Pilih  Mata Pelajaran</a:t>
            </a:r>
            <a:endParaRPr lang="en-US" sz="1100" b="1" noProof="0" dirty="0">
              <a:solidFill>
                <a:schemeClr val="tx1"/>
              </a:solidFill>
            </a:endParaRPr>
          </a:p>
          <a:p>
            <a:r>
              <a:rPr lang="en-US" sz="1100" b="1" dirty="0">
                <a:solidFill>
                  <a:schemeClr val="tx1"/>
                </a:solidFill>
              </a:rPr>
              <a:t>*Pilih Kurikulum (Nasional, Nasional Plus, Cambridge, Singapore, IB)</a:t>
            </a:r>
          </a:p>
          <a:p>
            <a:r>
              <a:rPr lang="en-US" sz="1100" b="1" noProof="0" dirty="0">
                <a:solidFill>
                  <a:schemeClr val="tx1"/>
                </a:solidFill>
              </a:rPr>
              <a:t>*Pilih Materi (Trigonometri, Aljabar etc)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A42E52-F4DB-E597-3E14-05B58C1B7B27}"/>
              </a:ext>
            </a:extLst>
          </p:cNvPr>
          <p:cNvCxnSpPr>
            <a:cxnSpLocks/>
            <a:endCxn id="54" idx="3"/>
          </p:cNvCxnSpPr>
          <p:nvPr/>
        </p:nvCxnSpPr>
        <p:spPr>
          <a:xfrm flipH="1" flipV="1">
            <a:off x="-468427" y="12591267"/>
            <a:ext cx="2297227" cy="382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9F56ED5-DB05-3BC0-7114-EBCDF9A2A5FD}"/>
              </a:ext>
            </a:extLst>
          </p:cNvPr>
          <p:cNvSpPr/>
          <p:nvPr/>
        </p:nvSpPr>
        <p:spPr>
          <a:xfrm>
            <a:off x="-4687928" y="13755901"/>
            <a:ext cx="4232366" cy="7910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>
                <a:solidFill>
                  <a:schemeClr val="tx1"/>
                </a:solidFill>
              </a:rPr>
              <a:t>Preview Pilihan Kursus Per Materi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&gt;&gt;Materi acak ditampilkan di awal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&gt;&gt;Materi yang dicari ditampilkan setelah user menggunakan pencarian 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 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8E6DB86-3F9A-6FAC-1C6C-2E3B68DEC00B}"/>
              </a:ext>
            </a:extLst>
          </p:cNvPr>
          <p:cNvCxnSpPr>
            <a:cxnSpLocks/>
            <a:endCxn id="61" idx="3"/>
          </p:cNvCxnSpPr>
          <p:nvPr/>
        </p:nvCxnSpPr>
        <p:spPr>
          <a:xfrm flipH="1" flipV="1">
            <a:off x="-455562" y="14151450"/>
            <a:ext cx="1487107" cy="413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072F01B7-0B49-44EA-D775-D67CF0A23C03}"/>
              </a:ext>
            </a:extLst>
          </p:cNvPr>
          <p:cNvSpPr/>
          <p:nvPr/>
        </p:nvSpPr>
        <p:spPr>
          <a:xfrm>
            <a:off x="-4700793" y="15709800"/>
            <a:ext cx="2989559" cy="671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>
                <a:solidFill>
                  <a:schemeClr val="tx1"/>
                </a:solidFill>
              </a:rPr>
              <a:t>Halaman Khusus untuk Produk Digital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Pembayaran akan terkoneksi dengan Lynk (Terpisah dari system pembayaran Bimbel)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 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707C004-3D62-C59B-E3EA-04B90192E43F}"/>
              </a:ext>
            </a:extLst>
          </p:cNvPr>
          <p:cNvCxnSpPr>
            <a:cxnSpLocks/>
            <a:endCxn id="65" idx="3"/>
          </p:cNvCxnSpPr>
          <p:nvPr/>
        </p:nvCxnSpPr>
        <p:spPr>
          <a:xfrm flipH="1" flipV="1">
            <a:off x="-1711234" y="16045312"/>
            <a:ext cx="2455818" cy="600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E80C0E3-AFAD-4312-63BB-FD63239C5BC2}"/>
              </a:ext>
            </a:extLst>
          </p:cNvPr>
          <p:cNvSpPr/>
          <p:nvPr/>
        </p:nvSpPr>
        <p:spPr>
          <a:xfrm>
            <a:off x="3615214" y="19080524"/>
            <a:ext cx="2487394" cy="4380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Tentang Kami</a:t>
            </a:r>
            <a:endParaRPr lang="id-ID" sz="1400" noProof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4CAF30E-2B2C-F45A-24E8-DA912AA96320}"/>
              </a:ext>
            </a:extLst>
          </p:cNvPr>
          <p:cNvSpPr/>
          <p:nvPr/>
        </p:nvSpPr>
        <p:spPr>
          <a:xfrm>
            <a:off x="10175966" y="23138212"/>
            <a:ext cx="1635376" cy="3618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b="1" dirty="0">
                <a:solidFill>
                  <a:schemeClr val="tx1"/>
                </a:solidFill>
              </a:rPr>
              <a:t>Ulasan Google Review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 </a:t>
            </a:r>
            <a:br>
              <a:rPr lang="id-ID" sz="1100" noProof="0" dirty="0">
                <a:solidFill>
                  <a:schemeClr val="tx1"/>
                </a:solidFill>
              </a:rPr>
            </a:br>
            <a:endParaRPr lang="id-ID" sz="1100" noProof="0" dirty="0">
              <a:solidFill>
                <a:schemeClr val="tx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EE7940C-7860-FD92-56E7-FAD10783CE67}"/>
              </a:ext>
            </a:extLst>
          </p:cNvPr>
          <p:cNvCxnSpPr>
            <a:endCxn id="74" idx="1"/>
          </p:cNvCxnSpPr>
          <p:nvPr/>
        </p:nvCxnSpPr>
        <p:spPr>
          <a:xfrm>
            <a:off x="8498284" y="23138212"/>
            <a:ext cx="1677682" cy="180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66F9F81-D655-28E3-1F98-4D81F0B544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766" y="24671893"/>
            <a:ext cx="3973171" cy="3228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568CEE-62DF-DB46-1FCA-3DE0D09BD5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9461" y="25224052"/>
            <a:ext cx="8787041" cy="6472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797A38-D594-8E21-9E1F-4B3FCAF85A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1545" y="13426804"/>
            <a:ext cx="1281609" cy="18308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983237-63B0-A26C-D0E3-8A3D5F2254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32809" y="13426804"/>
            <a:ext cx="1281609" cy="18308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15EF81-1C22-790F-B828-DC68D178094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4754" y="13431288"/>
            <a:ext cx="1250993" cy="17708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59A8A2-5C87-9E42-E544-88F330803B6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40921" y="13474415"/>
            <a:ext cx="1172494" cy="17277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1FDC22-352E-D882-E100-47F0FB9AE0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0100" y="13426804"/>
            <a:ext cx="1250993" cy="17708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EC90EB-7332-BF61-DC52-391941FBAE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9972" y="13458162"/>
            <a:ext cx="1172494" cy="172770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515837-654A-0532-8A00-93485411BB5C}"/>
              </a:ext>
            </a:extLst>
          </p:cNvPr>
          <p:cNvCxnSpPr/>
          <p:nvPr/>
        </p:nvCxnSpPr>
        <p:spPr>
          <a:xfrm>
            <a:off x="9244570" y="169819"/>
            <a:ext cx="1362470" cy="188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D3D249-A2C9-A8B6-7069-63FA7D0DE402}"/>
              </a:ext>
            </a:extLst>
          </p:cNvPr>
          <p:cNvSpPr/>
          <p:nvPr/>
        </p:nvSpPr>
        <p:spPr>
          <a:xfrm>
            <a:off x="9925805" y="381470"/>
            <a:ext cx="1701875" cy="653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>
                <a:solidFill>
                  <a:schemeClr val="tx1"/>
                </a:solidFill>
              </a:rPr>
              <a:t>Masuk ke menu login SekolahVerse</a:t>
            </a:r>
            <a:endParaRPr lang="id-ID" sz="11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989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3288</TotalTime>
  <Words>755</Words>
  <Application>Microsoft Office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12</cp:revision>
  <dcterms:created xsi:type="dcterms:W3CDTF">2026-08-07T07:03:23Z</dcterms:created>
  <dcterms:modified xsi:type="dcterms:W3CDTF">2026-08-10T02:56:06Z</dcterms:modified>
</cp:coreProperties>
</file>